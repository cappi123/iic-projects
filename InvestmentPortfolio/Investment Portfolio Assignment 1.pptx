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29" r:id="rId2"/>
  </p:sldMasterIdLst>
  <p:notesMasterIdLst>
    <p:notesMasterId r:id="rId13"/>
  </p:notesMasterIdLst>
  <p:handoutMasterIdLst>
    <p:handoutMasterId r:id="rId14"/>
  </p:handoutMasterIdLst>
  <p:sldIdLst>
    <p:sldId id="268" r:id="rId3"/>
    <p:sldId id="257" r:id="rId4"/>
    <p:sldId id="259" r:id="rId5"/>
    <p:sldId id="260" r:id="rId6"/>
    <p:sldId id="261" r:id="rId7"/>
    <p:sldId id="265" r:id="rId8"/>
    <p:sldId id="266" r:id="rId9"/>
    <p:sldId id="267" r:id="rId10"/>
    <p:sldId id="26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58939-27F7-42EB-8FED-F8F1B9D0CB90}" v="1073" dt="2024-10-18T14:32:02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7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LOY KIA MENG BRIAN#" userId="7e366d38-8ec9-41ff-952f-4f5b7e655c44" providerId="ADAL" clId="{E0A58939-27F7-42EB-8FED-F8F1B9D0CB90}"/>
    <pc:docChg chg="undo custSel addSld delSld modSld sldOrd addMainMaster modMainMaster">
      <pc:chgData name="#LOY KIA MENG BRIAN#" userId="7e366d38-8ec9-41ff-952f-4f5b7e655c44" providerId="ADAL" clId="{E0A58939-27F7-42EB-8FED-F8F1B9D0CB90}" dt="2024-10-18T14:32:02.098" v="1073" actId="2696"/>
      <pc:docMkLst>
        <pc:docMk/>
      </pc:docMkLst>
      <pc:sldChg chg="addSp modSp mod">
        <pc:chgData name="#LOY KIA MENG BRIAN#" userId="7e366d38-8ec9-41ff-952f-4f5b7e655c44" providerId="ADAL" clId="{E0A58939-27F7-42EB-8FED-F8F1B9D0CB90}" dt="2024-10-18T14:30:41.023" v="948" actId="1076"/>
        <pc:sldMkLst>
          <pc:docMk/>
          <pc:sldMk cId="2690303146" sldId="259"/>
        </pc:sldMkLst>
        <pc:spChg chg="add mod">
          <ac:chgData name="#LOY KIA MENG BRIAN#" userId="7e366d38-8ec9-41ff-952f-4f5b7e655c44" providerId="ADAL" clId="{E0A58939-27F7-42EB-8FED-F8F1B9D0CB90}" dt="2024-10-18T14:30:15.572" v="931" actId="20577"/>
          <ac:spMkLst>
            <pc:docMk/>
            <pc:sldMk cId="2690303146" sldId="259"/>
            <ac:spMk id="4" creationId="{9345D2D9-EB21-7605-BA31-24051196CB83}"/>
          </ac:spMkLst>
        </pc:spChg>
        <pc:spChg chg="add mod">
          <ac:chgData name="#LOY KIA MENG BRIAN#" userId="7e366d38-8ec9-41ff-952f-4f5b7e655c44" providerId="ADAL" clId="{E0A58939-27F7-42EB-8FED-F8F1B9D0CB90}" dt="2024-10-18T14:30:23.597" v="939" actId="20577"/>
          <ac:spMkLst>
            <pc:docMk/>
            <pc:sldMk cId="2690303146" sldId="259"/>
            <ac:spMk id="6" creationId="{5DA3DFF9-D189-DBE6-FBAC-BE2CF40E488E}"/>
          </ac:spMkLst>
        </pc:spChg>
        <pc:spChg chg="add mod">
          <ac:chgData name="#LOY KIA MENG BRIAN#" userId="7e366d38-8ec9-41ff-952f-4f5b7e655c44" providerId="ADAL" clId="{E0A58939-27F7-42EB-8FED-F8F1B9D0CB90}" dt="2024-10-18T14:30:34.821" v="946" actId="1076"/>
          <ac:spMkLst>
            <pc:docMk/>
            <pc:sldMk cId="2690303146" sldId="259"/>
            <ac:spMk id="7" creationId="{34A7608F-613B-E0DC-6B5B-BC0E9F13F1A3}"/>
          </ac:spMkLst>
        </pc:spChg>
        <pc:spChg chg="add mod">
          <ac:chgData name="#LOY KIA MENG BRIAN#" userId="7e366d38-8ec9-41ff-952f-4f5b7e655c44" providerId="ADAL" clId="{E0A58939-27F7-42EB-8FED-F8F1B9D0CB90}" dt="2024-10-18T14:30:41.023" v="948" actId="1076"/>
          <ac:spMkLst>
            <pc:docMk/>
            <pc:sldMk cId="2690303146" sldId="259"/>
            <ac:spMk id="8" creationId="{D3440FC4-2E10-376A-0069-6E45071D523B}"/>
          </ac:spMkLst>
        </pc:spChg>
      </pc:sldChg>
      <pc:sldChg chg="addSp delSp modSp del mod">
        <pc:chgData name="#LOY KIA MENG BRIAN#" userId="7e366d38-8ec9-41ff-952f-4f5b7e655c44" providerId="ADAL" clId="{E0A58939-27F7-42EB-8FED-F8F1B9D0CB90}" dt="2024-10-18T14:06:03.912" v="328" actId="2696"/>
        <pc:sldMkLst>
          <pc:docMk/>
          <pc:sldMk cId="2016595342" sldId="262"/>
        </pc:sldMkLst>
        <pc:spChg chg="mod">
          <ac:chgData name="#LOY KIA MENG BRIAN#" userId="7e366d38-8ec9-41ff-952f-4f5b7e655c44" providerId="ADAL" clId="{E0A58939-27F7-42EB-8FED-F8F1B9D0CB90}" dt="2024-10-18T14:00:29.321" v="103" actId="1076"/>
          <ac:spMkLst>
            <pc:docMk/>
            <pc:sldMk cId="2016595342" sldId="262"/>
            <ac:spMk id="4" creationId="{61D3C356-2050-AE95-0864-701DEFB97ACF}"/>
          </ac:spMkLst>
        </pc:spChg>
        <pc:spChg chg="del">
          <ac:chgData name="#LOY KIA MENG BRIAN#" userId="7e366d38-8ec9-41ff-952f-4f5b7e655c44" providerId="ADAL" clId="{E0A58939-27F7-42EB-8FED-F8F1B9D0CB90}" dt="2024-10-18T13:58:59.373" v="1" actId="478"/>
          <ac:spMkLst>
            <pc:docMk/>
            <pc:sldMk cId="2016595342" sldId="262"/>
            <ac:spMk id="6" creationId="{2859CB5B-9E21-8160-AFEC-B89559A8D27E}"/>
          </ac:spMkLst>
        </pc:spChg>
        <pc:spChg chg="del">
          <ac:chgData name="#LOY KIA MENG BRIAN#" userId="7e366d38-8ec9-41ff-952f-4f5b7e655c44" providerId="ADAL" clId="{E0A58939-27F7-42EB-8FED-F8F1B9D0CB90}" dt="2024-10-18T13:59:01.281" v="2" actId="478"/>
          <ac:spMkLst>
            <pc:docMk/>
            <pc:sldMk cId="2016595342" sldId="262"/>
            <ac:spMk id="9" creationId="{0EF1D4C9-29DE-453B-55D8-E4FA80B03A76}"/>
          </ac:spMkLst>
        </pc:spChg>
        <pc:graphicFrameChg chg="add mod">
          <ac:chgData name="#LOY KIA MENG BRIAN#" userId="7e366d38-8ec9-41ff-952f-4f5b7e655c44" providerId="ADAL" clId="{E0A58939-27F7-42EB-8FED-F8F1B9D0CB90}" dt="2024-10-18T14:00:26.692" v="102" actId="1076"/>
          <ac:graphicFrameMkLst>
            <pc:docMk/>
            <pc:sldMk cId="2016595342" sldId="262"/>
            <ac:graphicFrameMk id="8" creationId="{08B79F7B-07AD-2C80-5C6E-FC22DDFFEA15}"/>
          </ac:graphicFrameMkLst>
        </pc:graphicFrameChg>
      </pc:sldChg>
      <pc:sldChg chg="delSp del mod">
        <pc:chgData name="#LOY KIA MENG BRIAN#" userId="7e366d38-8ec9-41ff-952f-4f5b7e655c44" providerId="ADAL" clId="{E0A58939-27F7-42EB-8FED-F8F1B9D0CB90}" dt="2024-10-18T14:32:02.098" v="1073" actId="2696"/>
        <pc:sldMkLst>
          <pc:docMk/>
          <pc:sldMk cId="3342276701" sldId="263"/>
        </pc:sldMkLst>
        <pc:graphicFrameChg chg="del">
          <ac:chgData name="#LOY KIA MENG BRIAN#" userId="7e366d38-8ec9-41ff-952f-4f5b7e655c44" providerId="ADAL" clId="{E0A58939-27F7-42EB-8FED-F8F1B9D0CB90}" dt="2024-10-18T13:59:05.346" v="3" actId="21"/>
          <ac:graphicFrameMkLst>
            <pc:docMk/>
            <pc:sldMk cId="3342276701" sldId="263"/>
            <ac:graphicFrameMk id="8" creationId="{08B79F7B-07AD-2C80-5C6E-FC22DDFFEA15}"/>
          </ac:graphicFrameMkLst>
        </pc:graphicFrameChg>
        <pc:graphicFrameChg chg="del">
          <ac:chgData name="#LOY KIA MENG BRIAN#" userId="7e366d38-8ec9-41ff-952f-4f5b7e655c44" providerId="ADAL" clId="{E0A58939-27F7-42EB-8FED-F8F1B9D0CB90}" dt="2024-10-18T14:22:27.092" v="746" actId="478"/>
          <ac:graphicFrameMkLst>
            <pc:docMk/>
            <pc:sldMk cId="3342276701" sldId="263"/>
            <ac:graphicFrameMk id="10" creationId="{6D8BE1E0-134D-C7AC-5D56-40B3A0D64C88}"/>
          </ac:graphicFrameMkLst>
        </pc:graphicFrameChg>
      </pc:sldChg>
      <pc:sldChg chg="addSp modSp add mod">
        <pc:chgData name="#LOY KIA MENG BRIAN#" userId="7e366d38-8ec9-41ff-952f-4f5b7e655c44" providerId="ADAL" clId="{E0A58939-27F7-42EB-8FED-F8F1B9D0CB90}" dt="2024-10-18T14:31:19.015" v="1072" actId="20577"/>
        <pc:sldMkLst>
          <pc:docMk/>
          <pc:sldMk cId="3725312101" sldId="264"/>
        </pc:sldMkLst>
        <pc:spChg chg="mod">
          <ac:chgData name="#LOY KIA MENG BRIAN#" userId="7e366d38-8ec9-41ff-952f-4f5b7e655c44" providerId="ADAL" clId="{E0A58939-27F7-42EB-8FED-F8F1B9D0CB90}" dt="2024-10-18T14:22:06.411" v="741" actId="20577"/>
          <ac:spMkLst>
            <pc:docMk/>
            <pc:sldMk cId="3725312101" sldId="264"/>
            <ac:spMk id="4" creationId="{61D3C356-2050-AE95-0864-701DEFB97ACF}"/>
          </ac:spMkLst>
        </pc:spChg>
        <pc:spChg chg="mod">
          <ac:chgData name="#LOY KIA MENG BRIAN#" userId="7e366d38-8ec9-41ff-952f-4f5b7e655c44" providerId="ADAL" clId="{E0A58939-27F7-42EB-8FED-F8F1B9D0CB90}" dt="2024-10-18T14:22:15.064" v="743" actId="1076"/>
          <ac:spMkLst>
            <pc:docMk/>
            <pc:sldMk cId="3725312101" sldId="264"/>
            <ac:spMk id="6" creationId="{2859CB5B-9E21-8160-AFEC-B89559A8D27E}"/>
          </ac:spMkLst>
        </pc:spChg>
        <pc:spChg chg="add mod">
          <ac:chgData name="#LOY KIA MENG BRIAN#" userId="7e366d38-8ec9-41ff-952f-4f5b7e655c44" providerId="ADAL" clId="{E0A58939-27F7-42EB-8FED-F8F1B9D0CB90}" dt="2024-10-18T14:31:19.015" v="1072" actId="20577"/>
          <ac:spMkLst>
            <pc:docMk/>
            <pc:sldMk cId="3725312101" sldId="264"/>
            <ac:spMk id="7" creationId="{9F917C63-9F81-494C-AA03-D291FE69910A}"/>
          </ac:spMkLst>
        </pc:spChg>
        <pc:spChg chg="mod">
          <ac:chgData name="#LOY KIA MENG BRIAN#" userId="7e366d38-8ec9-41ff-952f-4f5b7e655c44" providerId="ADAL" clId="{E0A58939-27F7-42EB-8FED-F8F1B9D0CB90}" dt="2024-10-18T14:22:20.176" v="744" actId="1076"/>
          <ac:spMkLst>
            <pc:docMk/>
            <pc:sldMk cId="3725312101" sldId="264"/>
            <ac:spMk id="9" creationId="{0EF1D4C9-29DE-453B-55D8-E4FA80B03A76}"/>
          </ac:spMkLst>
        </pc:spChg>
        <pc:graphicFrameChg chg="add mod">
          <ac:chgData name="#LOY KIA MENG BRIAN#" userId="7e366d38-8ec9-41ff-952f-4f5b7e655c44" providerId="ADAL" clId="{E0A58939-27F7-42EB-8FED-F8F1B9D0CB90}" dt="2024-10-18T14:22:23.181" v="745" actId="1076"/>
          <ac:graphicFrameMkLst>
            <pc:docMk/>
            <pc:sldMk cId="3725312101" sldId="264"/>
            <ac:graphicFrameMk id="5" creationId="{8DB081FA-2C15-20B2-EDD8-17BD9C771076}"/>
          </ac:graphicFrameMkLst>
        </pc:graphicFrameChg>
      </pc:sldChg>
      <pc:sldChg chg="addSp modSp add mod">
        <pc:chgData name="#LOY KIA MENG BRIAN#" userId="7e366d38-8ec9-41ff-952f-4f5b7e655c44" providerId="ADAL" clId="{E0A58939-27F7-42EB-8FED-F8F1B9D0CB90}" dt="2024-10-18T14:08:13.015" v="403" actId="20577"/>
        <pc:sldMkLst>
          <pc:docMk/>
          <pc:sldMk cId="3606285163" sldId="265"/>
        </pc:sldMkLst>
        <pc:spChg chg="mod">
          <ac:chgData name="#LOY KIA MENG BRIAN#" userId="7e366d38-8ec9-41ff-952f-4f5b7e655c44" providerId="ADAL" clId="{E0A58939-27F7-42EB-8FED-F8F1B9D0CB90}" dt="2024-10-18T14:08:13.015" v="403" actId="20577"/>
          <ac:spMkLst>
            <pc:docMk/>
            <pc:sldMk cId="3606285163" sldId="265"/>
            <ac:spMk id="4" creationId="{61D3C356-2050-AE95-0864-701DEFB97ACF}"/>
          </ac:spMkLst>
        </pc:spChg>
        <pc:spChg chg="add">
          <ac:chgData name="#LOY KIA MENG BRIAN#" userId="7e366d38-8ec9-41ff-952f-4f5b7e655c44" providerId="ADAL" clId="{E0A58939-27F7-42EB-8FED-F8F1B9D0CB90}" dt="2024-10-18T14:03:27.647" v="276"/>
          <ac:spMkLst>
            <pc:docMk/>
            <pc:sldMk cId="3606285163" sldId="265"/>
            <ac:spMk id="5" creationId="{80548743-69B3-CE0E-ADCA-2D3CCB438295}"/>
          </ac:spMkLst>
        </pc:spChg>
      </pc:sldChg>
      <pc:sldChg chg="modSp add mod modNotesTx">
        <pc:chgData name="#LOY KIA MENG BRIAN#" userId="7e366d38-8ec9-41ff-952f-4f5b7e655c44" providerId="ADAL" clId="{E0A58939-27F7-42EB-8FED-F8F1B9D0CB90}" dt="2024-10-18T14:11:53.866" v="496" actId="20577"/>
        <pc:sldMkLst>
          <pc:docMk/>
          <pc:sldMk cId="3500533546" sldId="266"/>
        </pc:sldMkLst>
        <pc:spChg chg="mod">
          <ac:chgData name="#LOY KIA MENG BRIAN#" userId="7e366d38-8ec9-41ff-952f-4f5b7e655c44" providerId="ADAL" clId="{E0A58939-27F7-42EB-8FED-F8F1B9D0CB90}" dt="2024-10-18T14:11:53.866" v="496" actId="20577"/>
          <ac:spMkLst>
            <pc:docMk/>
            <pc:sldMk cId="3500533546" sldId="266"/>
            <ac:spMk id="4" creationId="{61D3C356-2050-AE95-0864-701DEFB97ACF}"/>
          </ac:spMkLst>
        </pc:spChg>
      </pc:sldChg>
      <pc:sldChg chg="addSp delSp modSp add mod">
        <pc:chgData name="#LOY KIA MENG BRIAN#" userId="7e366d38-8ec9-41ff-952f-4f5b7e655c44" providerId="ADAL" clId="{E0A58939-27F7-42EB-8FED-F8F1B9D0CB90}" dt="2024-10-18T14:27:18.136" v="861" actId="20577"/>
        <pc:sldMkLst>
          <pc:docMk/>
          <pc:sldMk cId="2599844304" sldId="267"/>
        </pc:sldMkLst>
        <pc:spChg chg="del">
          <ac:chgData name="#LOY KIA MENG BRIAN#" userId="7e366d38-8ec9-41ff-952f-4f5b7e655c44" providerId="ADAL" clId="{E0A58939-27F7-42EB-8FED-F8F1B9D0CB90}" dt="2024-10-18T14:12:16.191" v="499" actId="478"/>
          <ac:spMkLst>
            <pc:docMk/>
            <pc:sldMk cId="2599844304" sldId="267"/>
            <ac:spMk id="4" creationId="{61D3C356-2050-AE95-0864-701DEFB97ACF}"/>
          </ac:spMkLst>
        </pc:spChg>
        <pc:spChg chg="add del mod">
          <ac:chgData name="#LOY KIA MENG BRIAN#" userId="7e366d38-8ec9-41ff-952f-4f5b7e655c44" providerId="ADAL" clId="{E0A58939-27F7-42EB-8FED-F8F1B9D0CB90}" dt="2024-10-18T14:15:33.199" v="589" actId="478"/>
          <ac:spMkLst>
            <pc:docMk/>
            <pc:sldMk cId="2599844304" sldId="267"/>
            <ac:spMk id="10" creationId="{F797AD14-266D-4185-55BA-98823BE3764A}"/>
          </ac:spMkLst>
        </pc:spChg>
        <pc:spChg chg="add mod">
          <ac:chgData name="#LOY KIA MENG BRIAN#" userId="7e366d38-8ec9-41ff-952f-4f5b7e655c44" providerId="ADAL" clId="{E0A58939-27F7-42EB-8FED-F8F1B9D0CB90}" dt="2024-10-18T14:27:18.136" v="861" actId="20577"/>
          <ac:spMkLst>
            <pc:docMk/>
            <pc:sldMk cId="2599844304" sldId="267"/>
            <ac:spMk id="11" creationId="{033317D7-8898-00CF-8F0B-FDE2F04829E5}"/>
          </ac:spMkLst>
        </pc:spChg>
        <pc:spChg chg="add mod">
          <ac:chgData name="#LOY KIA MENG BRIAN#" userId="7e366d38-8ec9-41ff-952f-4f5b7e655c44" providerId="ADAL" clId="{E0A58939-27F7-42EB-8FED-F8F1B9D0CB90}" dt="2024-10-18T14:21:12.613" v="731" actId="208"/>
          <ac:spMkLst>
            <pc:docMk/>
            <pc:sldMk cId="2599844304" sldId="267"/>
            <ac:spMk id="12" creationId="{0B5A443A-190D-8229-C1F6-E5255AD9BEDD}"/>
          </ac:spMkLst>
        </pc:spChg>
        <pc:spChg chg="add mod">
          <ac:chgData name="#LOY KIA MENG BRIAN#" userId="7e366d38-8ec9-41ff-952f-4f5b7e655c44" providerId="ADAL" clId="{E0A58939-27F7-42EB-8FED-F8F1B9D0CB90}" dt="2024-10-18T14:21:56.369" v="739" actId="14100"/>
          <ac:spMkLst>
            <pc:docMk/>
            <pc:sldMk cId="2599844304" sldId="267"/>
            <ac:spMk id="15" creationId="{BD39B200-36C6-323B-52A2-E59695E46BB8}"/>
          </ac:spMkLst>
        </pc:spChg>
        <pc:graphicFrameChg chg="del">
          <ac:chgData name="#LOY KIA MENG BRIAN#" userId="7e366d38-8ec9-41ff-952f-4f5b7e655c44" providerId="ADAL" clId="{E0A58939-27F7-42EB-8FED-F8F1B9D0CB90}" dt="2024-10-18T14:12:14.544" v="498" actId="478"/>
          <ac:graphicFrameMkLst>
            <pc:docMk/>
            <pc:sldMk cId="2599844304" sldId="267"/>
            <ac:graphicFrameMk id="8" creationId="{08B79F7B-07AD-2C80-5C6E-FC22DDFFEA15}"/>
          </ac:graphicFrameMkLst>
        </pc:graphicFrameChg>
        <pc:picChg chg="add mod">
          <ac:chgData name="#LOY KIA MENG BRIAN#" userId="7e366d38-8ec9-41ff-952f-4f5b7e655c44" providerId="ADAL" clId="{E0A58939-27F7-42EB-8FED-F8F1B9D0CB90}" dt="2024-10-18T14:15:20.520" v="586" actId="1076"/>
          <ac:picMkLst>
            <pc:docMk/>
            <pc:sldMk cId="2599844304" sldId="267"/>
            <ac:picMk id="6" creationId="{930F806E-97B2-3B02-A7BB-CD7AB22B1FA4}"/>
          </ac:picMkLst>
        </pc:picChg>
        <pc:picChg chg="add del mod">
          <ac:chgData name="#LOY KIA MENG BRIAN#" userId="7e366d38-8ec9-41ff-952f-4f5b7e655c44" providerId="ADAL" clId="{E0A58939-27F7-42EB-8FED-F8F1B9D0CB90}" dt="2024-10-18T14:15:16.829" v="585" actId="478"/>
          <ac:picMkLst>
            <pc:docMk/>
            <pc:sldMk cId="2599844304" sldId="267"/>
            <ac:picMk id="9" creationId="{EB367828-5743-F36D-F384-56BA937F6F44}"/>
          </ac:picMkLst>
        </pc:picChg>
        <pc:picChg chg="add mod">
          <ac:chgData name="#LOY KIA MENG BRIAN#" userId="7e366d38-8ec9-41ff-952f-4f5b7e655c44" providerId="ADAL" clId="{E0A58939-27F7-42EB-8FED-F8F1B9D0CB90}" dt="2024-10-18T14:21:34.194" v="734" actId="1076"/>
          <ac:picMkLst>
            <pc:docMk/>
            <pc:sldMk cId="2599844304" sldId="267"/>
            <ac:picMk id="14" creationId="{244F4C1D-582F-F41D-8AB9-AFF2843B1F91}"/>
          </ac:picMkLst>
        </pc:picChg>
      </pc:sldChg>
      <pc:sldChg chg="addSp delSp modSp add mod ord">
        <pc:chgData name="#LOY KIA MENG BRIAN#" userId="7e366d38-8ec9-41ff-952f-4f5b7e655c44" providerId="ADAL" clId="{E0A58939-27F7-42EB-8FED-F8F1B9D0CB90}" dt="2024-10-18T14:28:18.395" v="918" actId="1076"/>
        <pc:sldMkLst>
          <pc:docMk/>
          <pc:sldMk cId="888942637" sldId="268"/>
        </pc:sldMkLst>
        <pc:spChg chg="add mod">
          <ac:chgData name="#LOY KIA MENG BRIAN#" userId="7e366d38-8ec9-41ff-952f-4f5b7e655c44" providerId="ADAL" clId="{E0A58939-27F7-42EB-8FED-F8F1B9D0CB90}" dt="2024-10-18T14:28:18.020" v="917" actId="1076"/>
          <ac:spMkLst>
            <pc:docMk/>
            <pc:sldMk cId="888942637" sldId="268"/>
            <ac:spMk id="2" creationId="{8820BDA6-2F8D-5C20-FD02-7A9425E36B35}"/>
          </ac:spMkLst>
        </pc:spChg>
        <pc:spChg chg="mod topLvl">
          <ac:chgData name="#LOY KIA MENG BRIAN#" userId="7e366d38-8ec9-41ff-952f-4f5b7e655c44" providerId="ADAL" clId="{E0A58939-27F7-42EB-8FED-F8F1B9D0CB90}" dt="2024-10-18T14:28:18.395" v="918" actId="1076"/>
          <ac:spMkLst>
            <pc:docMk/>
            <pc:sldMk cId="888942637" sldId="268"/>
            <ac:spMk id="9" creationId="{7785779A-14C8-849C-DA70-F60F8761F43F}"/>
          </ac:spMkLst>
        </pc:spChg>
        <pc:spChg chg="del">
          <ac:chgData name="#LOY KIA MENG BRIAN#" userId="7e366d38-8ec9-41ff-952f-4f5b7e655c44" providerId="ADAL" clId="{E0A58939-27F7-42EB-8FED-F8F1B9D0CB90}" dt="2024-10-18T14:23:09.883" v="753" actId="478"/>
          <ac:spMkLst>
            <pc:docMk/>
            <pc:sldMk cId="888942637" sldId="268"/>
            <ac:spMk id="10" creationId="{3828CA76-79EC-0EE1-E139-A2BD01F5391D}"/>
          </ac:spMkLst>
        </pc:spChg>
        <pc:spChg chg="del topLvl">
          <ac:chgData name="#LOY KIA MENG BRIAN#" userId="7e366d38-8ec9-41ff-952f-4f5b7e655c44" providerId="ADAL" clId="{E0A58939-27F7-42EB-8FED-F8F1B9D0CB90}" dt="2024-10-18T14:23:12.012" v="754" actId="478"/>
          <ac:spMkLst>
            <pc:docMk/>
            <pc:sldMk cId="888942637" sldId="268"/>
            <ac:spMk id="11" creationId="{08AA4CFE-8F7C-D66E-4609-2146723105C6}"/>
          </ac:spMkLst>
        </pc:spChg>
        <pc:spChg chg="del">
          <ac:chgData name="#LOY KIA MENG BRIAN#" userId="7e366d38-8ec9-41ff-952f-4f5b7e655c44" providerId="ADAL" clId="{E0A58939-27F7-42EB-8FED-F8F1B9D0CB90}" dt="2024-10-18T14:23:14.034" v="755" actId="478"/>
          <ac:spMkLst>
            <pc:docMk/>
            <pc:sldMk cId="888942637" sldId="268"/>
            <ac:spMk id="12" creationId="{5CE9ADC2-0F87-7244-1082-C78F79DE2DAF}"/>
          </ac:spMkLst>
        </pc:spChg>
        <pc:grpChg chg="del">
          <ac:chgData name="#LOY KIA MENG BRIAN#" userId="7e366d38-8ec9-41ff-952f-4f5b7e655c44" providerId="ADAL" clId="{E0A58939-27F7-42EB-8FED-F8F1B9D0CB90}" dt="2024-10-18T14:23:12.012" v="754" actId="478"/>
          <ac:grpSpMkLst>
            <pc:docMk/>
            <pc:sldMk cId="888942637" sldId="268"/>
            <ac:grpSpMk id="8" creationId="{A8E3F566-C1CF-EFEC-BE33-041223CA1D26}"/>
          </ac:grpSpMkLst>
        </pc:grpChg>
      </pc:sldChg>
      <pc:sldChg chg="add del">
        <pc:chgData name="#LOY KIA MENG BRIAN#" userId="7e366d38-8ec9-41ff-952f-4f5b7e655c44" providerId="ADAL" clId="{E0A58939-27F7-42EB-8FED-F8F1B9D0CB90}" dt="2024-10-18T14:22:55.284" v="748" actId="2890"/>
        <pc:sldMkLst>
          <pc:docMk/>
          <pc:sldMk cId="3400030599" sldId="268"/>
        </pc:sldMkLst>
      </pc:sldChg>
      <pc:sldMasterChg chg="add addSldLayout modSldLayout">
        <pc:chgData name="#LOY KIA MENG BRIAN#" userId="7e366d38-8ec9-41ff-952f-4f5b7e655c44" providerId="ADAL" clId="{E0A58939-27F7-42EB-8FED-F8F1B9D0CB90}" dt="2024-10-18T14:23:03.662" v="750"/>
        <pc:sldMasterMkLst>
          <pc:docMk/>
          <pc:sldMasterMk cId="3708508299" sldId="2147483729"/>
        </pc:sldMasterMkLst>
        <pc:sldLayoutChg chg="modSp add">
          <pc:chgData name="#LOY KIA MENG BRIAN#" userId="7e366d38-8ec9-41ff-952f-4f5b7e655c44" providerId="ADAL" clId="{E0A58939-27F7-42EB-8FED-F8F1B9D0CB90}" dt="2024-10-18T14:23:03.662" v="750"/>
          <pc:sldLayoutMkLst>
            <pc:docMk/>
            <pc:sldMasterMk cId="3708508299" sldId="2147483729"/>
            <pc:sldLayoutMk cId="2349573431" sldId="2147483761"/>
          </pc:sldLayoutMkLst>
          <pc:graphicFrameChg chg="mod">
            <ac:chgData name="#LOY KIA MENG BRIAN#" userId="7e366d38-8ec9-41ff-952f-4f5b7e655c44" providerId="ADAL" clId="{E0A58939-27F7-42EB-8FED-F8F1B9D0CB90}" dt="2024-10-18T14:23:03.662" v="750"/>
            <ac:graphicFrameMkLst>
              <pc:docMk/>
              <pc:sldMasterMk cId="3708508299" sldId="2147483729"/>
              <pc:sldLayoutMk cId="2349573431" sldId="2147483761"/>
              <ac:graphicFrameMk id="2" creationId="{06CFE05C-253D-D7E4-71DE-ABE46F322215}"/>
            </ac:graphicFrameMkLst>
          </pc:graphicFrame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79B291-0F18-A295-9B86-B4CCA20E5D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1D94E-75C2-7555-5C9B-E9B3727B62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0CF2-90C7-4A15-A5E7-F3D2F071D31A}" type="datetimeFigureOut">
              <a:rPr lang="en-SG" smtClean="0"/>
              <a:t>29/10/2024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19CCF-B0E8-2E92-571E-25A5EE4584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G"/>
              <a:t>Reference: CFI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A0840-742D-46BB-EEE5-964AB503E6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C401-5A2C-412B-A604-538122FB257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33785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B1010-481A-47D5-9299-1F2BD4246D67}" type="datetimeFigureOut">
              <a:rPr lang="en-SG" smtClean="0"/>
              <a:t>29/10/2024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G"/>
              <a:t>Reference: CFI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06B99-23BC-4E3B-BFD8-3B9544396C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5102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a36df63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a36df63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between Nasdaq 100 and S&amp;P500</a:t>
            </a:r>
          </a:p>
          <a:p>
            <a:r>
              <a:rPr lang="en-US" dirty="0"/>
              <a:t> It includes only the largest companies listed on NASDAQ, which are generally larger in market capitalization compared to companies in the S&amp;P 500. The NASDAQ-100 is more tech-focused, can experience higher volatility and faster growth during bull markets but may also see sharper declines during downturns.	</a:t>
            </a:r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SG"/>
              <a:t>Reference: CFI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6B99-23BC-4E3B-BFD8-3B9544396C0B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9369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between Nasdaq 100 and S&amp;P500</a:t>
            </a:r>
          </a:p>
          <a:p>
            <a:r>
              <a:rPr lang="en-US" dirty="0"/>
              <a:t> It includes only the largest companies listed on NASDAQ, which are generally larger in market capitalization compared to companies in the S&amp;P 500. The NASDAQ-100 is more tech-focused, can experience higher volatility and faster growth during bull markets but may also see sharper declines during downturns.	</a:t>
            </a:r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SG"/>
              <a:t>Reference: CFI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6B99-23BC-4E3B-BFD8-3B9544396C0B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29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CAD7-6622-581D-79D1-2B650EFD4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A8D85-EA47-B949-789E-016514BEB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3353-977E-4BC4-52A0-A91B62C2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CB4EF-8992-639D-364D-2744EEE0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A4542-18AF-A6E5-9397-794C1879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437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D6EB-A3D1-A152-8CA8-8B311758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12" y="136525"/>
            <a:ext cx="5466438" cy="88131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49B4-E84C-06BA-4546-FBBF9B2A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2419828D-8FA7-4EFE-B441-D465C985BA13}" type="slidenum">
              <a:rPr lang="en-SG" smtClean="0"/>
              <a:pPr/>
              <a:t>‹#›</a:t>
            </a:fld>
            <a:endParaRPr lang="en-SG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F2114B-460C-B15E-8F3D-5E205F8AA6A4}"/>
              </a:ext>
            </a:extLst>
          </p:cNvPr>
          <p:cNvCxnSpPr/>
          <p:nvPr userDrawn="1"/>
        </p:nvCxnSpPr>
        <p:spPr>
          <a:xfrm>
            <a:off x="181761" y="891515"/>
            <a:ext cx="118284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oogle Shape;1325;p24">
            <a:extLst>
              <a:ext uri="{FF2B5EF4-FFF2-40B4-BE49-F238E27FC236}">
                <a16:creationId xmlns:a16="http://schemas.microsoft.com/office/drawing/2014/main" id="{1BBFEF62-2225-81BC-4B3C-ADCF0272C47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78004" y="0"/>
            <a:ext cx="895600" cy="883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201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B695-19D5-7BDB-28BD-655119A0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AB295-FC0B-4EE0-70B9-F1E26F09F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1CB1C-68D8-ECC5-698A-7CFBD8ED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3078-DEE8-6B28-F5FD-2505620E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0418E-3FD0-35A9-99EC-BE9895FC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174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ADB5-E057-57D2-9450-CEE59C84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14BC2-2C01-81FB-4082-6C98DCDE0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1A14E-770F-0D03-587B-F318C9AEC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52A56-662E-CF38-87E6-35AF2B12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C131F-0FB8-3B99-FC7E-9221D7FC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8B214-412C-FEA3-393C-4F3731BF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530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6C33-A8B6-0200-07F9-82D1DA58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E5E78-5E05-9969-3B1C-7D714045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DF4C-727B-FC0E-F183-9B09125FE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BED03-D3D3-67EB-1D7F-5110313CE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94232-F4F9-FABE-F04D-BA634AC53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C2F76-D790-8EA3-F1C1-332DEDAF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18987-42B8-60A0-A028-0A5ED1B8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47740-82FB-21F7-BBB1-A6AEED95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411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33DA-0849-B99C-529F-85649071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D26BA-E5B0-358E-EB06-76923FEF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B8A6D-9455-6AFC-A32C-8DA4641B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E610A-B1D1-1886-3313-F7A44568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163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0D27-41D2-0926-81CD-AB59E246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BC9D0-3631-AC8E-DE18-6397810A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C27B2-8015-10CE-BF95-5EC2A9F5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551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D448-70F0-429B-B9C0-23D05E2C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372E-92BE-7BE7-5D61-CC6E1E19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51A85-552D-7A2A-9BCC-90E4A497A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7A5B1-66FD-597F-9B4E-E9083ADE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9765D-FB8E-52A1-31A0-1EF17C54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3ACE8-8EBF-C69A-FA11-ED02E8C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48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7CCC-D46F-3E0F-5766-6BDC30FB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9106C-7480-2775-E89D-21641FEC2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CFDCC-A724-8433-35CD-110A00FEE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9AF66-2731-A36A-33F5-B7A5F91C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A79E-5947-A1BA-BE61-AF60B3E0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F9146-518B-6A1F-35DF-962C8FC1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0555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7440-5636-B95E-EE68-EEABD1F4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CEFB9-05A5-436B-7B55-E9D5D36AA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2CFC-8F29-1768-A78D-7C5ADCFF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7331-3C32-AA19-C6CB-51F527D6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E0FA1-6C51-F3E9-886F-1134E54E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164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F02799-A502-9156-645A-CC131F717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2657D-D59B-BC96-7D88-A8DB2DB89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464E-6913-4101-A0F4-6D05B5D2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6D906-E8D7-67F1-5D9D-3B840D06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B36AB-4C47-51A6-6F1A-AC4314A0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365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1465267" y="1858100"/>
            <a:ext cx="4344800" cy="25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7066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6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465267" y="4364639"/>
            <a:ext cx="3033200" cy="9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CFE05C-253D-D7E4-71DE-ABE46F32221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6363547"/>
          <a:ext cx="12132734" cy="494453"/>
        </p:xfrm>
        <a:graphic>
          <a:graphicData uri="http://schemas.openxmlformats.org/drawingml/2006/table">
            <a:tbl>
              <a:tblPr firstRow="1" bandRow="1"/>
              <a:tblGrid>
                <a:gridCol w="2426547">
                  <a:extLst>
                    <a:ext uri="{9D8B030D-6E8A-4147-A177-3AD203B41FA5}">
                      <a16:colId xmlns:a16="http://schemas.microsoft.com/office/drawing/2014/main" val="3978037356"/>
                    </a:ext>
                  </a:extLst>
                </a:gridCol>
                <a:gridCol w="1256453">
                  <a:extLst>
                    <a:ext uri="{9D8B030D-6E8A-4147-A177-3AD203B41FA5}">
                      <a16:colId xmlns:a16="http://schemas.microsoft.com/office/drawing/2014/main" val="2549020519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783805523"/>
                    </a:ext>
                  </a:extLst>
                </a:gridCol>
                <a:gridCol w="2289387">
                  <a:extLst>
                    <a:ext uri="{9D8B030D-6E8A-4147-A177-3AD203B41FA5}">
                      <a16:colId xmlns:a16="http://schemas.microsoft.com/office/drawing/2014/main" val="102546655"/>
                    </a:ext>
                  </a:extLst>
                </a:gridCol>
                <a:gridCol w="2426547">
                  <a:extLst>
                    <a:ext uri="{9D8B030D-6E8A-4147-A177-3AD203B41FA5}">
                      <a16:colId xmlns:a16="http://schemas.microsoft.com/office/drawing/2014/main" val="196174945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800"/>
                        <a:t>Introduction</a:t>
                      </a:r>
                      <a:endParaRPr lang="en-SG" sz="18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Goals </a:t>
                      </a:r>
                      <a:endParaRPr lang="en-SG" sz="18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Analysis of current investments </a:t>
                      </a:r>
                      <a:endParaRPr lang="en-SG" sz="18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SG" sz="18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SG" sz="18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000978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57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7119E-6C7F-EB00-ABC0-0BEE3DA7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2B1A8-097C-5283-ADAA-2F6648237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C8BC6-1EAE-3C01-F522-54D118FD4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97A96-828C-0A09-2F5E-1CBBB22E7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FB0D3-3108-7332-7424-07F430EA3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9828D-8FA7-4EFE-B441-D465C985BA1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800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9AB4E-B26E-47ED-A395-C71FBDEE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6D1C3-5A03-4D3B-B35A-797C1597A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40616-262E-4E20-96D6-DEF40391D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DAC13-8988-44DE-A66A-8E065A97D6DA}" type="datetimeFigureOut">
              <a:rPr lang="en-SG" smtClean="0"/>
              <a:t>29/10/2024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465F1-C8E1-437B-A8A8-22B8A0C20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4CF93-FD26-47CC-878A-E8A4DDCB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E23CF-EDA9-4EDB-8BBB-C4B1AB4B5D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850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pic>
        <p:nvPicPr>
          <p:cNvPr id="1026" name="Picture 2" descr="Wall Street | Your Guide to NYC Tourism">
            <a:extLst>
              <a:ext uri="{FF2B5EF4-FFF2-40B4-BE49-F238E27FC236}">
                <a16:creationId xmlns:a16="http://schemas.microsoft.com/office/drawing/2014/main" id="{1EE60CEC-A7B1-2183-E47A-92597F3C3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30"/>
          <a:stretch/>
        </p:blipFill>
        <p:spPr bwMode="auto">
          <a:xfrm>
            <a:off x="1" y="-465222"/>
            <a:ext cx="12384505" cy="741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85779A-14C8-849C-DA70-F60F8761F43F}"/>
              </a:ext>
            </a:extLst>
          </p:cNvPr>
          <p:cNvSpPr/>
          <p:nvPr/>
        </p:nvSpPr>
        <p:spPr>
          <a:xfrm>
            <a:off x="0" y="4900319"/>
            <a:ext cx="12384505" cy="1543488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0BDA6-2F8D-5C20-FD02-7A9425E36B35}"/>
              </a:ext>
            </a:extLst>
          </p:cNvPr>
          <p:cNvSpPr txBox="1"/>
          <p:nvPr/>
        </p:nvSpPr>
        <p:spPr>
          <a:xfrm>
            <a:off x="466165" y="5379676"/>
            <a:ext cx="7252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Creating an Investment Portfolio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88894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Investment Portfolio?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C9FF0-A019-4BAA-0320-DDC9394CFC02}"/>
              </a:ext>
            </a:extLst>
          </p:cNvPr>
          <p:cNvSpPr txBox="1"/>
          <p:nvPr/>
        </p:nvSpPr>
        <p:spPr>
          <a:xfrm>
            <a:off x="215153" y="1017840"/>
            <a:ext cx="58808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SG" sz="1400" dirty="0"/>
              <a:t>An Investment portfolio is a group of financial assets owned by an investor.</a:t>
            </a:r>
          </a:p>
          <a:p>
            <a:pPr algn="just"/>
            <a:endParaRPr lang="en-SG" sz="1400" dirty="0"/>
          </a:p>
          <a:p>
            <a:pPr algn="just"/>
            <a:r>
              <a:rPr lang="en-SG" sz="1400" dirty="0"/>
              <a:t>These assets include equities, fixed income, currencies, real estate etc.</a:t>
            </a:r>
          </a:p>
          <a:p>
            <a:pPr marL="285750" indent="-285750" algn="just">
              <a:buFontTx/>
              <a:buChar char="-"/>
            </a:pPr>
            <a:r>
              <a:rPr lang="en-SG" sz="1400" b="1" dirty="0"/>
              <a:t>Equities</a:t>
            </a:r>
            <a:r>
              <a:rPr lang="en-SG" sz="1400" dirty="0"/>
              <a:t> are the most common component of any investment portfolio. Known as risky assets, equities help to grow portfolio value over time.</a:t>
            </a:r>
          </a:p>
          <a:p>
            <a:pPr algn="just"/>
            <a:endParaRPr lang="en-SG" sz="1400" dirty="0"/>
          </a:p>
          <a:p>
            <a:pPr marL="285750" indent="-285750" algn="just">
              <a:buFontTx/>
              <a:buChar char="-"/>
            </a:pPr>
            <a:r>
              <a:rPr lang="en-SG" sz="1400" b="1" dirty="0"/>
              <a:t>Fixed income </a:t>
            </a:r>
            <a:r>
              <a:rPr lang="en-SG" sz="1400" dirty="0"/>
              <a:t>provides investors with “fixed” returns. Compared to other assets, fixed income are known to be less risky. </a:t>
            </a:r>
          </a:p>
          <a:p>
            <a:pPr algn="just"/>
            <a:endParaRPr lang="en-SG" sz="1400" dirty="0"/>
          </a:p>
          <a:p>
            <a:pPr marL="285750" indent="-285750" algn="just">
              <a:buFontTx/>
              <a:buChar char="-"/>
            </a:pPr>
            <a:r>
              <a:rPr lang="en-SG" sz="1400" b="1" dirty="0"/>
              <a:t>Currencies</a:t>
            </a:r>
            <a:r>
              <a:rPr lang="en-SG" sz="1400" dirty="0"/>
              <a:t> help to protect investors from exchange rate risk (hedging). Investors utilise FX contracts when they invest in foreign assets.</a:t>
            </a:r>
          </a:p>
          <a:p>
            <a:pPr algn="just"/>
            <a:endParaRPr lang="en-SG" sz="1400" dirty="0"/>
          </a:p>
          <a:p>
            <a:pPr marL="285750" indent="-285750" algn="just">
              <a:buFontTx/>
              <a:buChar char="-"/>
            </a:pPr>
            <a:r>
              <a:rPr lang="en-SG" sz="1400" b="1" dirty="0"/>
              <a:t>Alternative investments </a:t>
            </a:r>
            <a:r>
              <a:rPr lang="en-SG" sz="1400" dirty="0"/>
              <a:t>(commodities, private equity, real estate) are less liquid compared to previous mentioned assets. Alternative investments tend to lag behind other assets in terms of performance.</a:t>
            </a:r>
          </a:p>
          <a:p>
            <a:pPr algn="just"/>
            <a:endParaRPr lang="en-SG" sz="1400" dirty="0"/>
          </a:p>
          <a:p>
            <a:pPr marL="285750" indent="-285750" algn="just">
              <a:buFontTx/>
              <a:buChar char="-"/>
            </a:pPr>
            <a:r>
              <a:rPr lang="en-SG" sz="1400" b="1" dirty="0"/>
              <a:t>Cash </a:t>
            </a:r>
            <a:r>
              <a:rPr lang="en-SG" sz="1400" dirty="0"/>
              <a:t>is the most important asset in every portfolio. It is safe and most liquid. </a:t>
            </a:r>
            <a:endParaRPr lang="en-SG" sz="1400" b="1" dirty="0"/>
          </a:p>
          <a:p>
            <a:pPr marL="285750" indent="-285750" algn="just">
              <a:buFontTx/>
              <a:buChar char="-"/>
            </a:pPr>
            <a:endParaRPr lang="en-US" sz="1400" dirty="0"/>
          </a:p>
          <a:p>
            <a:pPr marL="285750" indent="-285750" algn="just">
              <a:buFontTx/>
              <a:buChar char="-"/>
            </a:pPr>
            <a:endParaRPr lang="en-SG" sz="1400" dirty="0"/>
          </a:p>
        </p:txBody>
      </p:sp>
      <p:pic>
        <p:nvPicPr>
          <p:cNvPr id="1028" name="Picture 4" descr="Diapason Commodities Management,Commodities Insight Weekly,">
            <a:extLst>
              <a:ext uri="{FF2B5EF4-FFF2-40B4-BE49-F238E27FC236}">
                <a16:creationId xmlns:a16="http://schemas.microsoft.com/office/drawing/2014/main" id="{626BFAD7-D56B-4ABD-192F-FEBC028F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139" y="1815353"/>
            <a:ext cx="581025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EE6F6-7DF1-AB02-D7E3-D8D1CF64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905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Allocation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C9FF0-A019-4BAA-0320-DDC9394CFC02}"/>
              </a:ext>
            </a:extLst>
          </p:cNvPr>
          <p:cNvSpPr txBox="1"/>
          <p:nvPr/>
        </p:nvSpPr>
        <p:spPr>
          <a:xfrm>
            <a:off x="215153" y="1017840"/>
            <a:ext cx="58808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A</a:t>
            </a:r>
            <a:r>
              <a:rPr lang="en-SG" sz="1400" dirty="0" err="1"/>
              <a:t>sset</a:t>
            </a:r>
            <a:r>
              <a:rPr lang="en-SG" sz="1400" dirty="0"/>
              <a:t> allocation refers to an investment strategy that aims to balance </a:t>
            </a:r>
            <a:r>
              <a:rPr lang="en-SG" sz="1400" b="1" dirty="0"/>
              <a:t>risk</a:t>
            </a:r>
            <a:r>
              <a:rPr lang="en-SG" sz="1400" dirty="0"/>
              <a:t> and </a:t>
            </a:r>
            <a:r>
              <a:rPr lang="en-SG" sz="1400" b="1" dirty="0"/>
              <a:t>return</a:t>
            </a:r>
            <a:r>
              <a:rPr lang="en-SG" sz="1400" dirty="0"/>
              <a:t> by apportioning a portfolio’s assets according to an investor’s </a:t>
            </a:r>
            <a:r>
              <a:rPr lang="en-SG" sz="1400" b="1" dirty="0"/>
              <a:t>goals</a:t>
            </a:r>
            <a:r>
              <a:rPr lang="en-SG" sz="1400" dirty="0"/>
              <a:t>.</a:t>
            </a:r>
          </a:p>
          <a:p>
            <a:endParaRPr lang="en-SG" sz="1400" dirty="0"/>
          </a:p>
          <a:p>
            <a:r>
              <a:rPr lang="en-SG" sz="1400" dirty="0"/>
              <a:t>A common measure of risk is the standard deviation. </a:t>
            </a:r>
          </a:p>
          <a:p>
            <a:endParaRPr lang="en-SG" sz="1400" dirty="0"/>
          </a:p>
          <a:p>
            <a:r>
              <a:rPr lang="en-SG" sz="1400" dirty="0"/>
              <a:t>Standard deviation (</a:t>
            </a:r>
            <a:r>
              <a:rPr lang="el-GR" sz="1400" b="0" i="0" dirty="0">
                <a:solidFill>
                  <a:srgbClr val="040C28"/>
                </a:solidFill>
                <a:effectLst/>
                <a:latin typeface="Google Sans"/>
              </a:rPr>
              <a:t>σ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) </a:t>
            </a:r>
            <a:r>
              <a:rPr lang="en-SG" sz="1400" dirty="0"/>
              <a:t>measures the amount of variance of the values relative to its mean. </a:t>
            </a:r>
          </a:p>
          <a:p>
            <a:endParaRPr lang="en-SG" sz="1400" dirty="0"/>
          </a:p>
          <a:p>
            <a:r>
              <a:rPr lang="en-SG" sz="1400" dirty="0"/>
              <a:t>A high standard deviation means higher risk.</a:t>
            </a:r>
          </a:p>
          <a:p>
            <a:endParaRPr lang="en-SG" sz="1400" dirty="0"/>
          </a:p>
          <a:p>
            <a:r>
              <a:rPr lang="en-SG" sz="1400" dirty="0"/>
              <a:t>A low standard deviation means lower risk. </a:t>
            </a:r>
          </a:p>
          <a:p>
            <a:endParaRPr lang="en-SG" sz="1400" dirty="0"/>
          </a:p>
          <a:p>
            <a:r>
              <a:rPr lang="en-SG" sz="1400" dirty="0"/>
              <a:t>Return is normally calculated based on historical returns. Take the average of the historical returns to get your expected return.</a:t>
            </a:r>
          </a:p>
          <a:p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3</a:t>
            </a:fld>
            <a:endParaRPr lang="en-SG" dirty="0"/>
          </a:p>
        </p:txBody>
      </p:sp>
      <p:pic>
        <p:nvPicPr>
          <p:cNvPr id="2050" name="Picture 2" descr="Finding and Using Health Statistics">
            <a:extLst>
              <a:ext uri="{FF2B5EF4-FFF2-40B4-BE49-F238E27FC236}">
                <a16:creationId xmlns:a16="http://schemas.microsoft.com/office/drawing/2014/main" id="{548A1772-7042-AA89-FBBB-3C0C1224F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162" y="1643062"/>
            <a:ext cx="4071276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45D2D9-EB21-7605-BA31-24051196CB83}"/>
              </a:ext>
            </a:extLst>
          </p:cNvPr>
          <p:cNvSpPr txBox="1"/>
          <p:nvPr/>
        </p:nvSpPr>
        <p:spPr>
          <a:xfrm>
            <a:off x="9090212" y="1559859"/>
            <a:ext cx="797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Probability</a:t>
            </a:r>
            <a:endParaRPr lang="en-SG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3DFF9-D189-DBE6-FBAC-BE2CF40E488E}"/>
              </a:ext>
            </a:extLst>
          </p:cNvPr>
          <p:cNvSpPr txBox="1"/>
          <p:nvPr/>
        </p:nvSpPr>
        <p:spPr>
          <a:xfrm>
            <a:off x="11178988" y="2556723"/>
            <a:ext cx="797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Return</a:t>
            </a:r>
            <a:endParaRPr lang="en-SG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7608F-613B-E0DC-6B5B-BC0E9F13F1A3}"/>
              </a:ext>
            </a:extLst>
          </p:cNvPr>
          <p:cNvSpPr txBox="1"/>
          <p:nvPr/>
        </p:nvSpPr>
        <p:spPr>
          <a:xfrm>
            <a:off x="9090212" y="2837796"/>
            <a:ext cx="797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Probability</a:t>
            </a:r>
            <a:endParaRPr lang="en-SG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40FC4-2E10-376A-0069-6E45071D523B}"/>
              </a:ext>
            </a:extLst>
          </p:cNvPr>
          <p:cNvSpPr txBox="1"/>
          <p:nvPr/>
        </p:nvSpPr>
        <p:spPr>
          <a:xfrm>
            <a:off x="11211339" y="4744111"/>
            <a:ext cx="797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Return</a:t>
            </a:r>
            <a:endParaRPr lang="en-SG" sz="900" dirty="0"/>
          </a:p>
        </p:txBody>
      </p:sp>
    </p:spTree>
    <p:extLst>
      <p:ext uri="{BB962C8B-B14F-4D97-AF65-F5344CB8AC3E}">
        <p14:creationId xmlns:p14="http://schemas.microsoft.com/office/powerpoint/2010/main" val="269030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Allocation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4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D5458-3095-F4E4-9F54-CE1BA0DC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11" y="1222490"/>
            <a:ext cx="8759678" cy="22065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4A9878-11B1-0D22-0D41-6FCCE527EA93}"/>
              </a:ext>
            </a:extLst>
          </p:cNvPr>
          <p:cNvSpPr/>
          <p:nvPr/>
        </p:nvSpPr>
        <p:spPr>
          <a:xfrm>
            <a:off x="1013011" y="3166784"/>
            <a:ext cx="9161929" cy="365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C26D3-0697-FB6F-468C-6418482A20FB}"/>
              </a:ext>
            </a:extLst>
          </p:cNvPr>
          <p:cNvSpPr txBox="1"/>
          <p:nvPr/>
        </p:nvSpPr>
        <p:spPr>
          <a:xfrm>
            <a:off x="560294" y="3863602"/>
            <a:ext cx="110714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Sharpe ratio is a measure of risk-adjusted return.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It measures how much return the you are getting, based on a “unit” or risk you take.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A higher Sharpe ratio is more attractive as it yields better returns relative to the amount of risk.</a:t>
            </a:r>
            <a:endParaRPr lang="en-SG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369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Diversification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5</a:t>
            </a:fld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C26D3-0697-FB6F-468C-6418482A20FB}"/>
              </a:ext>
            </a:extLst>
          </p:cNvPr>
          <p:cNvSpPr txBox="1"/>
          <p:nvPr/>
        </p:nvSpPr>
        <p:spPr>
          <a:xfrm>
            <a:off x="142612" y="1017840"/>
            <a:ext cx="59533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Owning a wide variety of investments with different characteristics to reduce volatility.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The basic idea is that by holding a variety of assets, the negative performance of one investment can be offset by the positive performance of another, leading to a more stable and consistent return over time.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Diversification is more effective when the assets are less </a:t>
            </a:r>
            <a:r>
              <a:rPr lang="en-US" sz="1400" b="1" dirty="0"/>
              <a:t>correlated</a:t>
            </a:r>
            <a:r>
              <a:rPr lang="en-US" sz="1400" dirty="0"/>
              <a:t> with one another.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However, diversification do not eliminate risk entirely. Market risk cannot be eliminated using diversification.</a:t>
            </a:r>
          </a:p>
          <a:p>
            <a:pPr algn="just"/>
            <a:endParaRPr lang="en-US" sz="1400" dirty="0"/>
          </a:p>
          <a:p>
            <a:pPr algn="just"/>
            <a:endParaRPr lang="en-SG" sz="1400" dirty="0"/>
          </a:p>
          <a:p>
            <a:endParaRPr lang="en-US" sz="1400" dirty="0"/>
          </a:p>
        </p:txBody>
      </p:sp>
      <p:pic>
        <p:nvPicPr>
          <p:cNvPr id="3074" name="Picture 2" descr="Diversification and portfolio volatility (Womack &amp; Ying 2003) | Download  Scientific Diagram">
            <a:extLst>
              <a:ext uri="{FF2B5EF4-FFF2-40B4-BE49-F238E27FC236}">
                <a16:creationId xmlns:a16="http://schemas.microsoft.com/office/drawing/2014/main" id="{AA53EA95-2999-9A11-BDA9-A53C429E9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450" y="1765906"/>
            <a:ext cx="4410700" cy="332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1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6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3C356-2050-AE95-0864-701DEFB97ACF}"/>
              </a:ext>
            </a:extLst>
          </p:cNvPr>
          <p:cNvSpPr txBox="1"/>
          <p:nvPr/>
        </p:nvSpPr>
        <p:spPr>
          <a:xfrm>
            <a:off x="142612" y="2434263"/>
            <a:ext cx="1190677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VOO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S&amp;P 500 Index, which represents the 500 largest publicly traded companies in the U.S. by market capitalization. It offers investors exposure to large-cap stocks across various sectors, including technology, healthcare, finance, and consumer goods.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URTH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MSCI World Index, which includes large- and mid-cap stocks from developed markets around the world. This means URTH offers global exposure to companies from countries like the U.S., Canada, Japan, the UK, and many others.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EWM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</a:t>
            </a:r>
            <a:r>
              <a:rPr lang="en-US" sz="1400" b="1" dirty="0"/>
              <a:t>MSCI Malaysia IMI 25/50 Index</a:t>
            </a:r>
            <a:r>
              <a:rPr lang="en-US" sz="1400" dirty="0"/>
              <a:t>. This index includes a broad range of Malaysian companies across various sectors, including finance, consumer goods, and technology.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EWJ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MSCI Japan Index. This index includes large- and mid-cap companies in Japan, providing investors with exposure to the Japanese equity market.</a:t>
            </a:r>
          </a:p>
          <a:p>
            <a:pPr marL="285750" indent="-285750" algn="just">
              <a:buFontTx/>
              <a:buChar char="-"/>
            </a:pPr>
            <a:endParaRPr lang="en-US" sz="1400" dirty="0"/>
          </a:p>
          <a:p>
            <a:pPr algn="just"/>
            <a:r>
              <a:rPr lang="en-US" sz="1400" dirty="0"/>
              <a:t>GLD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price of gold bullion. It is one of the largest and most well-known gold ETFs in the market, allowing investors to gain exposure to gold without the need to physically hold the metal.</a:t>
            </a:r>
          </a:p>
          <a:p>
            <a:pPr algn="just"/>
            <a:endParaRPr lang="en-US" sz="1400" dirty="0"/>
          </a:p>
          <a:p>
            <a:pPr marL="285750" indent="-285750" algn="just">
              <a:buFontTx/>
              <a:buChar char="-"/>
            </a:pPr>
            <a:endParaRPr lang="en-US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B79F7B-07AD-2C80-5C6E-FC22DDFF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425777"/>
              </p:ext>
            </p:extLst>
          </p:nvPr>
        </p:nvGraphicFramePr>
        <p:xfrm>
          <a:off x="217687" y="1028628"/>
          <a:ext cx="11738093" cy="1311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7046">
                  <a:extLst>
                    <a:ext uri="{9D8B030D-6E8A-4147-A177-3AD203B41FA5}">
                      <a16:colId xmlns:a16="http://schemas.microsoft.com/office/drawing/2014/main" val="2473134994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488542036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299862287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156145856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3020798665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203034313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093960534"/>
                    </a:ext>
                  </a:extLst>
                </a:gridCol>
                <a:gridCol w="1475030">
                  <a:extLst>
                    <a:ext uri="{9D8B030D-6E8A-4147-A177-3AD203B41FA5}">
                      <a16:colId xmlns:a16="http://schemas.microsoft.com/office/drawing/2014/main" val="1822042378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3616887032"/>
                    </a:ext>
                  </a:extLst>
                </a:gridCol>
              </a:tblGrid>
              <a:tr h="358254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Assets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Vanguard S&amp;P 500 ETF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World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Malaysia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Japan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SPDR Gold Shares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Invesco QQQ Trust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Russell 2000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China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3405074143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Ticker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VOO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URTH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EWM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EWJ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GLD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QQQ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IWM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MCHI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1607405953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1401255731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Average return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13.68%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10.61%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-3.59%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4.07%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-4.62%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22.86%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7.54%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10.83%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460669085"/>
                  </a:ext>
                </a:extLst>
              </a:tr>
              <a:tr h="385513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Standard deviation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0.185628201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0.174758981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0.036030855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0.154839993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0.339543298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0.304647755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0.170443312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 dirty="0">
                          <a:effectLst/>
                        </a:rPr>
                        <a:t>0.188707746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93503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28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7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3C356-2050-AE95-0864-701DEFB97ACF}"/>
              </a:ext>
            </a:extLst>
          </p:cNvPr>
          <p:cNvSpPr txBox="1"/>
          <p:nvPr/>
        </p:nvSpPr>
        <p:spPr>
          <a:xfrm>
            <a:off x="142612" y="2434263"/>
            <a:ext cx="119067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QQQ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Tracks the performance of the NASDAQ-100 Index, which includes 100 of the largest non-financial companies listed on the NASDAQ Stock Market. This ETF is known for its heavy weighting in technology stocks, making it a popular choice for investors looking to gain exposure to the tech sector.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IWM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Track the performance of the Russell 2000 Index, which measures the performance of the 2,000 smallest stocks in the Russell 3000 Index. This index represents a significant segment of the U.S. small-cap equity market.</a:t>
            </a:r>
          </a:p>
          <a:p>
            <a:pPr marL="285750" indent="-285750" algn="just">
              <a:buFontTx/>
              <a:buChar char="-"/>
            </a:pPr>
            <a:endParaRPr lang="en-US" sz="1400" dirty="0"/>
          </a:p>
          <a:p>
            <a:pPr algn="just"/>
            <a:r>
              <a:rPr lang="en-US" sz="1400" dirty="0"/>
              <a:t>MCHI</a:t>
            </a:r>
          </a:p>
          <a:p>
            <a:pPr algn="just"/>
            <a:r>
              <a:rPr lang="en-US" sz="1400" dirty="0"/>
              <a:t>- Track the performance of the MSCI China Index, which includes large- and mid-cap companies listed in China. This ETF provides investors with exposure to the Chinese equity market, encompassing various sectors and industries.</a:t>
            </a:r>
          </a:p>
          <a:p>
            <a:pPr marL="285750" indent="-285750" algn="just">
              <a:buFontTx/>
              <a:buChar char="-"/>
            </a:pPr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684C86-6327-4652-B7A5-1900E5EBA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30176"/>
              </p:ext>
            </p:extLst>
          </p:nvPr>
        </p:nvGraphicFramePr>
        <p:xfrm>
          <a:off x="217687" y="1028628"/>
          <a:ext cx="11738093" cy="1311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7046">
                  <a:extLst>
                    <a:ext uri="{9D8B030D-6E8A-4147-A177-3AD203B41FA5}">
                      <a16:colId xmlns:a16="http://schemas.microsoft.com/office/drawing/2014/main" val="2473134994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488542036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299862287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156145856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3020798665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203034313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1093960534"/>
                    </a:ext>
                  </a:extLst>
                </a:gridCol>
                <a:gridCol w="1475030">
                  <a:extLst>
                    <a:ext uri="{9D8B030D-6E8A-4147-A177-3AD203B41FA5}">
                      <a16:colId xmlns:a16="http://schemas.microsoft.com/office/drawing/2014/main" val="1822042378"/>
                    </a:ext>
                  </a:extLst>
                </a:gridCol>
                <a:gridCol w="1299431">
                  <a:extLst>
                    <a:ext uri="{9D8B030D-6E8A-4147-A177-3AD203B41FA5}">
                      <a16:colId xmlns:a16="http://schemas.microsoft.com/office/drawing/2014/main" val="3616887032"/>
                    </a:ext>
                  </a:extLst>
                </a:gridCol>
              </a:tblGrid>
              <a:tr h="358254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Assets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Vanguard S&amp;P 500 ETF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World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Malaysia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iShares MSCI Japan ETF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SPDR Gold Shares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Invesco QQQ Trust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 dirty="0">
                          <a:effectLst/>
                        </a:rPr>
                        <a:t>iShares Russell 2000 ETF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iShares MSCI China ETF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3405074143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Ticker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VOO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URTH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EWM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EWJ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GLD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QQQ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IWM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MCHI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1607405953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1401255731"/>
                  </a:ext>
                </a:extLst>
              </a:tr>
              <a:tr h="189387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Average return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13.68%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10.61%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-3.59%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4.07%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-4.62%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22.86%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7.54%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10.83%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460669085"/>
                  </a:ext>
                </a:extLst>
              </a:tr>
              <a:tr h="385513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u="none" strike="noStrike">
                          <a:effectLst/>
                        </a:rPr>
                        <a:t>Standard deviation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0.185628201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0.174758981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0.036030855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0.154839993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0.339543298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0.304647755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>
                          <a:effectLst/>
                        </a:rPr>
                        <a:t>0.170443312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u="none" strike="noStrike" dirty="0">
                          <a:effectLst/>
                        </a:rPr>
                        <a:t>0.188707746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19" marR="9019" marT="9019" marB="0" anchor="b"/>
                </a:tc>
                <a:extLst>
                  <a:ext uri="{0D108BD9-81ED-4DB2-BD59-A6C34878D82A}">
                    <a16:rowId xmlns:a16="http://schemas.microsoft.com/office/drawing/2014/main" val="93503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53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8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0F806E-97B2-3B02-A7BB-CD7AB22B1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61" y="1017840"/>
            <a:ext cx="5012653" cy="55309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3317D7-8898-00CF-8F0B-FDE2F04829E5}"/>
              </a:ext>
            </a:extLst>
          </p:cNvPr>
          <p:cNvSpPr txBox="1"/>
          <p:nvPr/>
        </p:nvSpPr>
        <p:spPr>
          <a:xfrm>
            <a:off x="142612" y="1017840"/>
            <a:ext cx="595338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Research on each ETF: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Composition – what does the ETF consist of, what does it represent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Market outlook – what are the growth opportunities 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Performance (return)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Risk</a:t>
            </a:r>
          </a:p>
          <a:p>
            <a:pPr marL="285750" indent="-285750" algn="just">
              <a:buFontTx/>
              <a:buChar char="-"/>
            </a:pPr>
            <a:r>
              <a:rPr lang="en-US" sz="1400" dirty="0"/>
              <a:t>Sharpe Ratio</a:t>
            </a:r>
          </a:p>
          <a:p>
            <a:pPr marL="285750" indent="-285750" algn="just">
              <a:buFontTx/>
              <a:buChar char="-"/>
            </a:pPr>
            <a:endParaRPr lang="en-US" sz="1400" dirty="0"/>
          </a:p>
          <a:p>
            <a:pPr algn="just"/>
            <a:r>
              <a:rPr lang="en-US" sz="1400" dirty="0"/>
              <a:t>Choose 2 assets to form your portfolio</a:t>
            </a:r>
          </a:p>
          <a:p>
            <a:pPr algn="just"/>
            <a:endParaRPr lang="en-US" sz="1400" dirty="0"/>
          </a:p>
          <a:p>
            <a:pPr algn="just"/>
            <a:endParaRPr lang="en-SG" sz="1400" dirty="0"/>
          </a:p>
          <a:p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5A443A-190D-8229-C1F6-E5255AD9BEDD}"/>
              </a:ext>
            </a:extLst>
          </p:cNvPr>
          <p:cNvSpPr/>
          <p:nvPr/>
        </p:nvSpPr>
        <p:spPr>
          <a:xfrm>
            <a:off x="7602071" y="3702424"/>
            <a:ext cx="2913529" cy="36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4F4C1D-582F-F41D-8AB9-AFF2843B1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7" y="3593392"/>
            <a:ext cx="6611664" cy="23613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39B200-36C6-323B-52A2-E59695E46BB8}"/>
              </a:ext>
            </a:extLst>
          </p:cNvPr>
          <p:cNvSpPr/>
          <p:nvPr/>
        </p:nvSpPr>
        <p:spPr>
          <a:xfrm>
            <a:off x="142612" y="5011271"/>
            <a:ext cx="3147435" cy="403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984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75E4-1B7B-9FDA-D89F-2C0F2A9B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6B03-8D0F-D6F1-4C72-21465BD2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9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3C356-2050-AE95-0864-701DEFB97ACF}"/>
              </a:ext>
            </a:extLst>
          </p:cNvPr>
          <p:cNvSpPr txBox="1"/>
          <p:nvPr/>
        </p:nvSpPr>
        <p:spPr>
          <a:xfrm>
            <a:off x="142612" y="1017840"/>
            <a:ext cx="11906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Calculate the 2-asset portfolio expected return, portfolio standard deviation, and the Sharpe ratio.</a:t>
            </a:r>
          </a:p>
          <a:p>
            <a:pPr algn="just"/>
            <a:endParaRPr lang="en-US" sz="1400" dirty="0"/>
          </a:p>
          <a:p>
            <a:pPr algn="just"/>
            <a:endParaRPr lang="en-SG" sz="1400" dirty="0"/>
          </a:p>
          <a:p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59CB5B-9E21-8160-AFEC-B89559A8D27E}"/>
                  </a:ext>
                </a:extLst>
              </p:cNvPr>
              <p:cNvSpPr txBox="1"/>
              <p:nvPr/>
            </p:nvSpPr>
            <p:spPr>
              <a:xfrm>
                <a:off x="3047999" y="1576145"/>
                <a:ext cx="6096000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𝑝𝑜𝑟𝑡𝑓𝑙𝑖𝑜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𝑎𝑠𝑠𝑒𝑡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𝑎𝑠𝑠𝑒𝑡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𝑎𝑠𝑠𝑒𝑡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𝑎𝑠𝑠𝑒𝑡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59CB5B-9E21-8160-AFEC-B89559A8D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1576145"/>
                <a:ext cx="6096000" cy="391582"/>
              </a:xfrm>
              <a:prstGeom prst="rect">
                <a:avLst/>
              </a:prstGeom>
              <a:blipFill>
                <a:blip r:embed="rId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F1D4C9-29DE-453B-55D8-E4FA80B03A76}"/>
                  </a:ext>
                </a:extLst>
              </p:cNvPr>
              <p:cNvSpPr txBox="1"/>
              <p:nvPr/>
            </p:nvSpPr>
            <p:spPr>
              <a:xfrm>
                <a:off x="3047999" y="2059526"/>
                <a:ext cx="6096000" cy="93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𝑝𝑜𝑟𝑡𝑓𝑜𝑙𝑖𝑜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w is the weight of the asset,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the correlation coefficient </a:t>
                </a:r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F1D4C9-29DE-453B-55D8-E4FA80B03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2059526"/>
                <a:ext cx="6096000" cy="933012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B081FA-2C15-20B2-EDD8-17BD9C771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488727"/>
              </p:ext>
            </p:extLst>
          </p:nvPr>
        </p:nvGraphicFramePr>
        <p:xfrm>
          <a:off x="826019" y="3626810"/>
          <a:ext cx="10539959" cy="2057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7565">
                  <a:extLst>
                    <a:ext uri="{9D8B030D-6E8A-4147-A177-3AD203B41FA5}">
                      <a16:colId xmlns:a16="http://schemas.microsoft.com/office/drawing/2014/main" val="3889766867"/>
                    </a:ext>
                  </a:extLst>
                </a:gridCol>
                <a:gridCol w="971221">
                  <a:extLst>
                    <a:ext uri="{9D8B030D-6E8A-4147-A177-3AD203B41FA5}">
                      <a16:colId xmlns:a16="http://schemas.microsoft.com/office/drawing/2014/main" val="2055001239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995716540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2527613088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2775852230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740368177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2827371247"/>
                    </a:ext>
                  </a:extLst>
                </a:gridCol>
                <a:gridCol w="1118376">
                  <a:extLst>
                    <a:ext uri="{9D8B030D-6E8A-4147-A177-3AD203B41FA5}">
                      <a16:colId xmlns:a16="http://schemas.microsoft.com/office/drawing/2014/main" val="2895216246"/>
                    </a:ext>
                  </a:extLst>
                </a:gridCol>
                <a:gridCol w="1180917">
                  <a:extLst>
                    <a:ext uri="{9D8B030D-6E8A-4147-A177-3AD203B41FA5}">
                      <a16:colId xmlns:a16="http://schemas.microsoft.com/office/drawing/2014/main" val="1154053532"/>
                    </a:ext>
                  </a:extLst>
                </a:gridCol>
              </a:tblGrid>
              <a:tr h="434994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 dirty="0">
                          <a:effectLst/>
                        </a:rPr>
                        <a:t>correlation coefficient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VOO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URTH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EWM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EWJ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GLD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QQQ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IWM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MCHI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714998416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 dirty="0">
                          <a:effectLst/>
                        </a:rPr>
                        <a:t>VOO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0.99553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0.34037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 dirty="0">
                          <a:effectLst/>
                        </a:rPr>
                        <a:t>0.87450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0.79774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0.90216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0.96310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0.17487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766797609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URTH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0.39156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0.91160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0.78631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0.91425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0.97442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0.19792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2355450576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EWM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0.66151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0.56068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0.58521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0.57883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0.37893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3812414460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EWJ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0.78783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0.94328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0.94355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0.16794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2831787293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GLD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0.90665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0.83840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-0.13888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2510328455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QQQ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0.93743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>
                          <a:effectLst/>
                        </a:rPr>
                        <a:t>0.00868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4072659153"/>
                  </a:ext>
                </a:extLst>
              </a:tr>
              <a:tr h="231850">
                <a:tc>
                  <a:txBody>
                    <a:bodyPr/>
                    <a:lstStyle/>
                    <a:p>
                      <a:pPr algn="l" fontAlgn="b"/>
                      <a:r>
                        <a:rPr lang="en-SG" sz="1400" u="none" strike="noStrike">
                          <a:effectLst/>
                        </a:rPr>
                        <a:t>IWM</a:t>
                      </a: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400" u="none" strike="noStrike" dirty="0">
                          <a:effectLst/>
                        </a:rPr>
                        <a:t>0.28452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040" marR="11040" marT="11040" marB="0" anchor="b"/>
                </a:tc>
                <a:extLst>
                  <a:ext uri="{0D108BD9-81ED-4DB2-BD59-A6C34878D82A}">
                    <a16:rowId xmlns:a16="http://schemas.microsoft.com/office/drawing/2014/main" val="34812436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917C63-9F81-494C-AA03-D291FE69910A}"/>
              </a:ext>
            </a:extLst>
          </p:cNvPr>
          <p:cNvSpPr txBox="1"/>
          <p:nvPr/>
        </p:nvSpPr>
        <p:spPr>
          <a:xfrm>
            <a:off x="142612" y="5903892"/>
            <a:ext cx="11906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Present your findings, and your final investment portfolio</a:t>
            </a:r>
          </a:p>
          <a:p>
            <a:pPr algn="just"/>
            <a:endParaRPr lang="en-US" sz="1400" dirty="0"/>
          </a:p>
          <a:p>
            <a:pPr algn="just"/>
            <a:endParaRPr lang="en-SG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531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C018-6B5D-4884-8528-A53632FB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Submission Criteria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0363F5-9431-41FB-A5A0-7509381A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9828D-8FA7-4EFE-B441-D465C985BA13}" type="slidenum">
              <a:rPr lang="en-SG" smtClean="0"/>
              <a:pPr/>
              <a:t>10</a:t>
            </a:fld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241E3-FD58-4872-9E6A-125DC4B2AFC5}"/>
              </a:ext>
            </a:extLst>
          </p:cNvPr>
          <p:cNvSpPr txBox="1"/>
          <p:nvPr/>
        </p:nvSpPr>
        <p:spPr>
          <a:xfrm>
            <a:off x="142612" y="1017840"/>
            <a:ext cx="595338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Deadline: 5</a:t>
            </a:r>
            <a:r>
              <a:rPr lang="en-US" sz="1400" baseline="30000" dirty="0"/>
              <a:t>th</a:t>
            </a:r>
            <a:r>
              <a:rPr lang="en-US" sz="1400" dirty="0"/>
              <a:t> November 2359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Submit Format: PowerPoint Presentation in PDF format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“IA_Group_XX_Assignment1” – XX is your group number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Submit to Cluster Director (email will be shared in telegram group chat)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Ask your Cluster Director if you have any questions!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53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1216</Words>
  <Application>Microsoft Office PowerPoint</Application>
  <PresentationFormat>Widescreen</PresentationFormat>
  <Paragraphs>231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Aptos Narrow</vt:lpstr>
      <vt:lpstr>Google Sans</vt:lpstr>
      <vt:lpstr>Arial</vt:lpstr>
      <vt:lpstr>Calibri</vt:lpstr>
      <vt:lpstr>Calibri Light</vt:lpstr>
      <vt:lpstr>Cambria Math</vt:lpstr>
      <vt:lpstr>Office Theme</vt:lpstr>
      <vt:lpstr>1_Office Theme</vt:lpstr>
      <vt:lpstr>PowerPoint Presentation</vt:lpstr>
      <vt:lpstr>What is an Investment Portfolio?</vt:lpstr>
      <vt:lpstr>Asset Allocation</vt:lpstr>
      <vt:lpstr>Asset Allocation</vt:lpstr>
      <vt:lpstr>Diversification</vt:lpstr>
      <vt:lpstr>Assignment</vt:lpstr>
      <vt:lpstr>Assignment</vt:lpstr>
      <vt:lpstr>Assignment</vt:lpstr>
      <vt:lpstr>Assignment</vt:lpstr>
      <vt:lpstr>Submission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#LOY KIA MENG BRIAN#</dc:creator>
  <cp:lastModifiedBy>#LOY KIA MENG BRIAN#</cp:lastModifiedBy>
  <cp:revision>3</cp:revision>
  <dcterms:created xsi:type="dcterms:W3CDTF">2024-10-18T11:42:28Z</dcterms:created>
  <dcterms:modified xsi:type="dcterms:W3CDTF">2024-10-29T12:13:40Z</dcterms:modified>
</cp:coreProperties>
</file>